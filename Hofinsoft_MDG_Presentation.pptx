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</a:defRPr>
            </a:pPr>
            <a:r>
              <a:t>Hofinsoft MDG Portal (eNOMCAT)</a:t>
            </a:r>
          </a:p>
          <a:p>
            <a:pPr algn="l">
              <a:spcBef>
                <a:spcPts val="2000"/>
              </a:spcBef>
              <a:defRPr sz="2200" b="1">
                <a:solidFill>
                  <a:srgbClr val="F26522"/>
                </a:solidFill>
              </a:defRPr>
            </a:pPr>
            <a:r>
              <a:t>Custom Material Master Governance Solution Architecture &amp; Roadmap</a:t>
            </a:r>
          </a:p>
          <a:p>
            <a:pPr algn="l">
              <a:spcBef>
                <a:spcPts val="4000"/>
              </a:spcBef>
              <a:defRPr sz="1600">
                <a:solidFill>
                  <a:srgbClr val="FFFFFF"/>
                </a:solidFill>
              </a:defRPr>
            </a:pPr>
            <a:r>
              <a:t>Built on .NET Core, React, and Camunda Workflow Engine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884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Dynamic Cataloging for MRO Spares: </a:t>
            </a:r>
            <a:r>
              <a:rPr b="0" sz="1600">
                <a:solidFill>
                  <a:srgbClr val="1F2937"/>
                </a:solidFill>
              </a:rPr>
              <a:t>Fetches classification metadata schemas on-demand for Bearings, Valves, Motors, Gaskets, etc., dynamically rendering input fields.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Gated Governance Workflow Ingestion: </a:t>
            </a:r>
            <a:r>
              <a:rPr b="0" sz="1600">
                <a:solidFill>
                  <a:srgbClr val="1F2937"/>
                </a:solidFill>
              </a:rPr>
              <a:t>Requires unapproved parts to sit in Staging as 'Pending' until authorized by catalog managers via structured workflow gates.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Nomenclature &amp; Standardized Formatting: </a:t>
            </a:r>
            <a:r>
              <a:rPr b="0" sz="1600">
                <a:solidFill>
                  <a:srgbClr val="1F2937"/>
                </a:solidFill>
              </a:rPr>
              <a:t>Joins properties into standard ERP descriptions automatically, e.g., 'VALVE, BALL: 2 inches Size, Class 300, Carbon Steel, Flanged'.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Similarity Engine &amp; Duplicate Check: </a:t>
            </a:r>
            <a:r>
              <a:rPr b="0" sz="1600">
                <a:solidFill>
                  <a:srgbClr val="1F2937"/>
                </a:solidFill>
              </a:rPr>
              <a:t>Generates deterministic SHA-256 hashes of properties to check the Production Catalog, blocking duplicates and enforcing data hygiene.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884"/>
                </a:solidFill>
              </a:defRPr>
            </a:pPr>
            <a:r>
              <a:t>Recommended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Frontend (React + Vite): </a:t>
            </a:r>
            <a:r>
              <a:rPr b="0" sz="1600">
                <a:solidFill>
                  <a:srgbClr val="1F2937"/>
                </a:solidFill>
              </a:rPr>
              <a:t>Aligned with Hofinsoft brand rules: clean light-mode cards, Corporate Blue (#004884) themes, Orange highlights, and safe response parsing helper.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Backend (.NET Core Web API): </a:t>
            </a:r>
            <a:r>
              <a:rPr b="0" sz="1600">
                <a:solidFill>
                  <a:srgbClr val="1F2937"/>
                </a:solidFill>
              </a:rPr>
              <a:t>Modern, enterprise-grade, high-performance web API framework, implementing REST controllers and structured JSON payload handling.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Database (SQL Server / SQLite): </a:t>
            </a:r>
            <a:r>
              <a:rPr b="0" sz="1600">
                <a:solidFill>
                  <a:srgbClr val="1F2937"/>
                </a:solidFill>
              </a:rPr>
              <a:t>EF Core enables smooth abstraction. Lightweight SQLite for prototype catalog dictionary; seamless switch to MS SQL Server for production.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Workflow Engine (Camunda Orchestration): </a:t>
            </a:r>
            <a:r>
              <a:rPr b="0" sz="1600">
                <a:solidFill>
                  <a:srgbClr val="1F2937"/>
                </a:solidFill>
              </a:rPr>
              <a:t>Service-level workflow orchestrator mimicking process instance initiation, decision gating, and promotion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884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1. Fetch Schema — </a:t>
            </a:r>
            <a:r>
              <a:rPr b="0" sz="1600">
                <a:solidFill>
                  <a:srgbClr val="1F2937"/>
                </a:solidFill>
              </a:rPr>
              <a:t>User selects Noun/Modifier. Portal fetches active template parameters from SQLite/SQL Server dictionary.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2. Validate &amp; De-duplicate — </a:t>
            </a:r>
            <a:r>
              <a:rPr b="0" sz="1600">
                <a:solidFill>
                  <a:srgbClr val="1F2937"/>
                </a:solidFill>
              </a:rPr>
              <a:t>Backend validates properties. Hashing engine calculates SHA-256 unique ID and checks Production catalog to block duplicates.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3. Staging Ingestion — </a:t>
            </a:r>
            <a:r>
              <a:rPr b="0" sz="1600">
                <a:solidFill>
                  <a:srgbClr val="1F2937"/>
                </a:solidFill>
              </a:rPr>
              <a:t>Clean request is stored in StagingItemRequests as 'Pending' with standardized nomenclature description.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4. Camunda Approval Gate — </a:t>
            </a:r>
            <a:r>
              <a:rPr b="0" sz="1600">
                <a:solidFill>
                  <a:srgbClr val="1F2937"/>
                </a:solidFill>
              </a:rPr>
              <a:t>Promoting a staged request simulates a Camunda approval callback, copying the item to ProductionCatalog as a Golden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884"/>
                </a:solidFill>
              </a:defRPr>
            </a:pPr>
            <a:r>
              <a:t>SAP Integration (BAPI / OData)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Step 1: Workflow Event Trigger: </a:t>
            </a:r>
            <a:r>
              <a:rPr b="0" sz="1600">
                <a:solidFill>
                  <a:srgbClr val="1F2937"/>
                </a:solidFill>
              </a:rPr>
              <a:t>The approval event on the staging board triggers a background Integration Worker task in the .NET Core gateway.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Step 2: Payload Mapping: </a:t>
            </a:r>
            <a:r>
              <a:rPr b="0" sz="1600">
                <a:solidFill>
                  <a:srgbClr val="1F2937"/>
                </a:solidFill>
              </a:rPr>
              <a:t>MDG properties (Noun, Modifier, Attributes) are mapped to SAP Material Master structures (MARA, MAKT tables).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Step 3: BAPI / RFC Invocation: </a:t>
            </a:r>
            <a:r>
              <a:rPr b="0" sz="1600">
                <a:solidFill>
                  <a:srgbClr val="1F2937"/>
                </a:solidFill>
              </a:rPr>
              <a:t>Gateway executes standard SAP BAPI client call (BAPI_MATERIAL_SAVEDATA) or SAP OData REST endpoint.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Step 4: ERP Update &amp; Callback: </a:t>
            </a:r>
            <a:r>
              <a:rPr b="0" sz="1600">
                <a:solidFill>
                  <a:srgbClr val="1F2937"/>
                </a:solidFill>
              </a:rPr>
              <a:t>SAP returns the generated SAP Material Number. MDG records the ID in ProductionCatalog, establishing a complete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884"/>
                </a:solidFill>
              </a:defRPr>
            </a:pPr>
            <a:r>
              <a:t>Delivery Roadmap &amp; Resource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6-Month Delivery Timeline: </a:t>
            </a:r>
            <a:r>
              <a:rPr b="0" sz="1600">
                <a:solidFill>
                  <a:srgbClr val="1F2937"/>
                </a:solidFill>
              </a:rPr>
              <a:t>Dynamic Forms &amp; Auth (M1-2), Workflows &amp; Hashing (M3-4), SAP Integration &amp; Power BI Reports (M5-6).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Recommended Scrum Team (5 FTE): </a:t>
            </a:r>
            <a:r>
              <a:rPr b="0" sz="1600">
                <a:solidFill>
                  <a:srgbClr val="1F2937"/>
                </a:solidFill>
              </a:rPr>
              <a:t>1x Master Data Consultant, 1x .NET Backend Developer, 1x React Frontend Developer, 1x SAP Integrator, 1x QA/DevOps.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b="1" sz="1800">
                <a:solidFill>
                  <a:srgbClr val="1F2937"/>
                </a:solidFill>
              </a:defRPr>
            </a:pPr>
            <a:r>
              <a:t>•  Strategic Business Value: </a:t>
            </a:r>
            <a:r>
              <a:rPr b="0" sz="1600">
                <a:solidFill>
                  <a:srgbClr val="1F2937"/>
                </a:solidFill>
              </a:rPr>
              <a:t>Guarantees 100% clean material master data inside SAP, eliminates duplicates, and saves licensing overhead via open-source integrations.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